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开场先问学员是否有编程基础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重点强调 Python 的简洁性优势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引导学员理解两种语言的设计哲学差异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停顿3秒让大家思考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布置课后安装任务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ctr">
              <a:defRPr sz="4400" b="1">
                <a:solidFill>
                  <a:srgbClr val="D97706"/>
                </a:solidFill>
              </a:defRPr>
            </a:pPr>
            <a:r>
              <a:t>Python 入门指南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D97706"/>
                </a:solidFill>
              </a:defRPr>
            </a:pPr>
            <a:r>
              <a:t>从零开始学 Python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D97706"/>
                </a:solidFill>
              </a:defRPr>
            </a:pPr>
            <a:r>
              <a:t>掌握编程核心思维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为什么学 Python？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语法简洁，接近自然语言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对比 Java 的 Hello World 需要5行，Python 只需1行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应用领域广泛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Web 开发（Django/Flask）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数据科学（NumPy/Pandas）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AI 与机器学习（PyTorch/TensorFlow）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社区活跃，资源丰富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1264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059669"/>
                </a:solidFill>
              </a:defRPr>
            </a:pPr>
            <a:r>
              <a:t>🔑 易学 / 万能 / 热门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1/5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</a:defRPr>
            </a:pPr>
            <a:r>
              <a:t>Python vs Java 对比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Python：解释型、动态类型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Python：简洁易读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Python：适合快速开发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0" y="2011680"/>
            <a:ext cx="50292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Java：编译型、静态类型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Java：严谨规范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0F172A"/>
                </a:solidFill>
              </a:defRPr>
            </a:pPr>
            <a:r>
              <a:t>Java：适合大型项目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0" y="61264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059669"/>
                </a:solidFill>
              </a:defRPr>
            </a:pPr>
            <a:r>
              <a:t>🔑 解释型 vs 编译型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2/5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548640"/>
            <a:ext cx="1069848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0F172A"/>
                </a:solidFill>
              </a:defRPr>
            </a:pPr>
            <a:r>
              <a:t>编程的本质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286000"/>
            <a:ext cx="94183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000" i="1">
                <a:solidFill>
                  <a:srgbClr val="F1F5F9"/>
                </a:solidFill>
              </a:defRPr>
            </a:pPr>
            <a:r>
              <a:t>「代码写出来是给人看的，只是顺便让机器执行」</a:t>
            </a:r>
          </a:p>
          <a:p>
            <a:pPr algn="ctr">
              <a:spcBef>
                <a:spcPts val="1600"/>
              </a:spcBef>
              <a:defRPr sz="1800">
                <a:solidFill>
                  <a:srgbClr val="D97706"/>
                </a:solidFill>
              </a:defRPr>
            </a:pPr>
            <a:r>
              <a:t>— Harold Abelson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3/5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B4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 algn="ctr">
              <a:defRPr sz="4000" b="1">
                <a:solidFill>
                  <a:srgbClr val="D97706"/>
                </a:solidFill>
              </a:defRPr>
            </a:pPr>
            <a:r>
              <a:t>本课总结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D97706"/>
                </a:solidFill>
              </a:defRPr>
            </a:pPr>
            <a:r>
              <a:t>Python 是最适合初学者的语言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D97706"/>
                </a:solidFill>
              </a:defRPr>
            </a:pPr>
            <a:r>
              <a:t>语法简洁 + 生态强大</a:t>
            </a:r>
          </a:p>
          <a:p>
            <a:pPr>
              <a:spcBef>
                <a:spcPts val="200"/>
              </a:spcBef>
              <a:spcAft>
                <a:spcPts val="600"/>
              </a:spcAft>
              <a:defRPr sz="1800" b="1">
                <a:solidFill>
                  <a:srgbClr val="D97706"/>
                </a:solidFill>
              </a:defRPr>
            </a:pPr>
            <a:r>
              <a:t>下一步：安装 Python 环境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0" y="6126480"/>
            <a:ext cx="53035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200" i="1">
                <a:solidFill>
                  <a:srgbClr val="D97706"/>
                </a:solidFill>
              </a:defRPr>
            </a:pPr>
            <a:r>
              <a:t>🔑 总结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0" y="6400800"/>
            <a:ext cx="9144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000">
                <a:solidFill>
                  <a:srgbClr val="64748B"/>
                </a:solidFill>
              </a:defRPr>
            </a:pPr>
            <a:r>
              <a:t>4/5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